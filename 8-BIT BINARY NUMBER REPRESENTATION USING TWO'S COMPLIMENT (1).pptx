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K Grotesk Bold" charset="1" panose="00000800000000000000"/>
      <p:regular r:id="rId13"/>
    </p:embeddedFont>
    <p:embeddedFont>
      <p:font typeface="HK Grotesk Medium" charset="1" panose="00000600000000000000"/>
      <p:regular r:id="rId14"/>
    </p:embeddedFont>
    <p:embeddedFont>
      <p:font typeface="Canva Sans Bold" charset="1" panose="020B0803030501040103"/>
      <p:regular r:id="rId15"/>
    </p:embeddedFont>
    <p:embeddedFont>
      <p:font typeface="HK Grotesk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67601" y="3177554"/>
            <a:ext cx="15191699" cy="37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1"/>
              </a:lnSpc>
            </a:pPr>
            <a:r>
              <a:rPr lang="en-US" b="true" sz="720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8-Bit Signed Binary Number Representation Using Two’s Complement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6279" y="7228840"/>
            <a:ext cx="1505294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4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AND SIMULATION IN LOGISIM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6279" y="1514352"/>
            <a:ext cx="65322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DDCA|</a:t>
            </a: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33186" y="3551924"/>
            <a:ext cx="9221629" cy="363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Madhu priya-2620080072</a:t>
            </a:r>
          </a:p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Jeyanth vighnesh-2620080063</a:t>
            </a:r>
          </a:p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Venkata ramana-2620080054</a:t>
            </a:r>
          </a:p>
          <a:p>
            <a:pPr algn="ctr">
              <a:lnSpc>
                <a:spcPts val="7257"/>
              </a:lnSpc>
              <a:spcBef>
                <a:spcPct val="0"/>
              </a:spcBef>
            </a:pPr>
            <a:r>
              <a:rPr lang="en-US" b="true" sz="5183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Juhitha-2620080124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7452" y="1949188"/>
            <a:ext cx="159530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BY: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561699" y="6595353"/>
            <a:ext cx="5868225" cy="3691647"/>
          </a:xfrm>
          <a:custGeom>
            <a:avLst/>
            <a:gdLst/>
            <a:ahLst/>
            <a:cxnLst/>
            <a:rect r="r" b="b" t="t" l="l"/>
            <a:pathLst>
              <a:path h="3691647" w="5868225">
                <a:moveTo>
                  <a:pt x="0" y="0"/>
                </a:moveTo>
                <a:lnTo>
                  <a:pt x="5868224" y="0"/>
                </a:lnTo>
                <a:lnTo>
                  <a:pt x="5868224" y="3691647"/>
                </a:lnTo>
                <a:lnTo>
                  <a:pt x="0" y="3691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48462" y="7351914"/>
            <a:ext cx="4339508" cy="2935086"/>
          </a:xfrm>
          <a:custGeom>
            <a:avLst/>
            <a:gdLst/>
            <a:ahLst/>
            <a:cxnLst/>
            <a:rect r="r" b="b" t="t" l="l"/>
            <a:pathLst>
              <a:path h="2935086" w="4339508">
                <a:moveTo>
                  <a:pt x="0" y="0"/>
                </a:moveTo>
                <a:lnTo>
                  <a:pt x="4339508" y="0"/>
                </a:lnTo>
                <a:lnTo>
                  <a:pt x="4339508" y="2935086"/>
                </a:lnTo>
                <a:lnTo>
                  <a:pt x="0" y="2935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540597" y="-268089"/>
            <a:ext cx="4279210" cy="3104372"/>
          </a:xfrm>
          <a:custGeom>
            <a:avLst/>
            <a:gdLst/>
            <a:ahLst/>
            <a:cxnLst/>
            <a:rect r="r" b="b" t="t" l="l"/>
            <a:pathLst>
              <a:path h="3104372" w="4279210">
                <a:moveTo>
                  <a:pt x="0" y="0"/>
                </a:moveTo>
                <a:lnTo>
                  <a:pt x="4279210" y="0"/>
                </a:lnTo>
                <a:lnTo>
                  <a:pt x="4279210" y="3104372"/>
                </a:lnTo>
                <a:lnTo>
                  <a:pt x="0" y="310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16208" y="0"/>
            <a:ext cx="4183383" cy="2836283"/>
          </a:xfrm>
          <a:custGeom>
            <a:avLst/>
            <a:gdLst/>
            <a:ahLst/>
            <a:cxnLst/>
            <a:rect r="r" b="b" t="t" l="l"/>
            <a:pathLst>
              <a:path h="2836283" w="4183383">
                <a:moveTo>
                  <a:pt x="0" y="0"/>
                </a:moveTo>
                <a:lnTo>
                  <a:pt x="4183383" y="0"/>
                </a:lnTo>
                <a:lnTo>
                  <a:pt x="4183383" y="2836283"/>
                </a:lnTo>
                <a:lnTo>
                  <a:pt x="0" y="2836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662" b="-1396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06819" y="1400052"/>
            <a:ext cx="13874363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18011" y="2976121"/>
            <a:ext cx="13963171" cy="1047750"/>
            <a:chOff x="0" y="0"/>
            <a:chExt cx="18617561" cy="1397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 an 8-bit binary circuit in Logisim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18011" y="4371913"/>
            <a:ext cx="13963171" cy="1047750"/>
            <a:chOff x="0" y="0"/>
            <a:chExt cx="18617561" cy="1397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Represent positive and negative numbers.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06819" y="7141846"/>
            <a:ext cx="13963171" cy="1047750"/>
            <a:chOff x="0" y="0"/>
            <a:chExt cx="18617561" cy="1397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18980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 Two’s Complement for subtraction.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18011" y="5772088"/>
            <a:ext cx="13963171" cy="1047750"/>
            <a:chOff x="0" y="0"/>
            <a:chExt cx="3677543" cy="2759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77543" cy="275951"/>
            </a:xfrm>
            <a:custGeom>
              <a:avLst/>
              <a:gdLst/>
              <a:ahLst/>
              <a:cxnLst/>
              <a:rect r="r" b="b" t="t" l="l"/>
              <a:pathLst>
                <a:path h="275951" w="3677543">
                  <a:moveTo>
                    <a:pt x="11089" y="0"/>
                  </a:moveTo>
                  <a:lnTo>
                    <a:pt x="3666454" y="0"/>
                  </a:lnTo>
                  <a:cubicBezTo>
                    <a:pt x="3672578" y="0"/>
                    <a:pt x="3677543" y="4965"/>
                    <a:pt x="3677543" y="11089"/>
                  </a:cubicBezTo>
                  <a:lnTo>
                    <a:pt x="3677543" y="264862"/>
                  </a:lnTo>
                  <a:cubicBezTo>
                    <a:pt x="3677543" y="270986"/>
                    <a:pt x="3672578" y="275951"/>
                    <a:pt x="3666454" y="275951"/>
                  </a:cubicBezTo>
                  <a:lnTo>
                    <a:pt x="11089" y="275951"/>
                  </a:lnTo>
                  <a:cubicBezTo>
                    <a:pt x="8148" y="275951"/>
                    <a:pt x="5328" y="274782"/>
                    <a:pt x="3248" y="272703"/>
                  </a:cubicBezTo>
                  <a:cubicBezTo>
                    <a:pt x="1168" y="270623"/>
                    <a:pt x="0" y="267803"/>
                    <a:pt x="0" y="264862"/>
                  </a:cubicBezTo>
                  <a:lnTo>
                    <a:pt x="0" y="11089"/>
                  </a:lnTo>
                  <a:cubicBezTo>
                    <a:pt x="0" y="4965"/>
                    <a:pt x="4965" y="0"/>
                    <a:pt x="11089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677543" cy="3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974470" y="5902929"/>
            <a:ext cx="1396317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Perform addition and subtraction.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46349" y="3542920"/>
            <a:ext cx="850599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Two 8-bit numbers are given as input.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Full Adders are used for addition.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688" y="1400052"/>
            <a:ext cx="12285900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/ Methodology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49462" y="3154076"/>
            <a:ext cx="4286250" cy="4286250"/>
            <a:chOff x="0" y="0"/>
            <a:chExt cx="5715000" cy="5715000"/>
          </a:xfrm>
        </p:grpSpPr>
        <p:sp>
          <p:nvSpPr>
            <p:cNvPr name="AutoShape 17" id="17"/>
            <p:cNvSpPr/>
            <p:nvPr/>
          </p:nvSpPr>
          <p:spPr>
            <a:xfrm>
              <a:off x="0" y="1185126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185407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252302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319197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386092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0" y="4529874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1184240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V="true">
              <a:off x="185318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V="true">
              <a:off x="252213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V="true">
              <a:off x="319108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V="true">
              <a:off x="386003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V="true">
              <a:off x="4528988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444500" y="444500"/>
              <a:ext cx="4826000" cy="4826000"/>
              <a:chOff x="0" y="0"/>
              <a:chExt cx="1395072" cy="139507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95072" cy="1395072"/>
              </a:xfrm>
              <a:custGeom>
                <a:avLst/>
                <a:gdLst/>
                <a:ahLst/>
                <a:cxnLst/>
                <a:rect r="r" b="b" t="t" l="l"/>
                <a:pathLst>
                  <a:path h="1395072" w="1395072">
                    <a:moveTo>
                      <a:pt x="53474" y="0"/>
                    </a:moveTo>
                    <a:lnTo>
                      <a:pt x="1341599" y="0"/>
                    </a:lnTo>
                    <a:cubicBezTo>
                      <a:pt x="1355781" y="0"/>
                      <a:pt x="1369382" y="5634"/>
                      <a:pt x="1379410" y="15662"/>
                    </a:cubicBezTo>
                    <a:cubicBezTo>
                      <a:pt x="1389439" y="25690"/>
                      <a:pt x="1395072" y="39292"/>
                      <a:pt x="1395072" y="53474"/>
                    </a:cubicBezTo>
                    <a:lnTo>
                      <a:pt x="1395072" y="1341599"/>
                    </a:lnTo>
                    <a:cubicBezTo>
                      <a:pt x="1395072" y="1371131"/>
                      <a:pt x="1371131" y="1395072"/>
                      <a:pt x="1341599" y="1395072"/>
                    </a:cubicBezTo>
                    <a:lnTo>
                      <a:pt x="53474" y="1395072"/>
                    </a:lnTo>
                    <a:cubicBezTo>
                      <a:pt x="23941" y="1395072"/>
                      <a:pt x="0" y="1371131"/>
                      <a:pt x="0" y="1341599"/>
                    </a:cubicBezTo>
                    <a:lnTo>
                      <a:pt x="0" y="53474"/>
                    </a:lnTo>
                    <a:cubicBezTo>
                      <a:pt x="0" y="23941"/>
                      <a:pt x="23941" y="0"/>
                      <a:pt x="53474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95072" cy="1433172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>
              <a:off x="1963993" y="1166288"/>
              <a:ext cx="535040" cy="913981"/>
            </a:xfrm>
            <a:custGeom>
              <a:avLst/>
              <a:gdLst/>
              <a:ahLst/>
              <a:cxnLst/>
              <a:rect r="r" b="b" t="t" l="l"/>
              <a:pathLst>
                <a:path h="913981" w="535040">
                  <a:moveTo>
                    <a:pt x="0" y="0"/>
                  </a:moveTo>
                  <a:lnTo>
                    <a:pt x="344540" y="0"/>
                  </a:lnTo>
                  <a:cubicBezTo>
                    <a:pt x="395063" y="0"/>
                    <a:pt x="443518" y="20070"/>
                    <a:pt x="479244" y="55796"/>
                  </a:cubicBezTo>
                  <a:cubicBezTo>
                    <a:pt x="514969" y="91522"/>
                    <a:pt x="535040" y="139976"/>
                    <a:pt x="535040" y="190500"/>
                  </a:cubicBezTo>
                  <a:lnTo>
                    <a:pt x="535040" y="913980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>
              <a:off x="3167983" y="1429496"/>
              <a:ext cx="535040" cy="650773"/>
            </a:xfrm>
            <a:custGeom>
              <a:avLst/>
              <a:gdLst/>
              <a:ahLst/>
              <a:cxnLst/>
              <a:rect r="r" b="b" t="t" l="l"/>
              <a:pathLst>
                <a:path h="650773" w="535040">
                  <a:moveTo>
                    <a:pt x="535039" y="0"/>
                  </a:moveTo>
                  <a:lnTo>
                    <a:pt x="190500" y="0"/>
                  </a:lnTo>
                  <a:cubicBezTo>
                    <a:pt x="139976" y="0"/>
                    <a:pt x="91522" y="20070"/>
                    <a:pt x="55796" y="55796"/>
                  </a:cubicBezTo>
                  <a:cubicBezTo>
                    <a:pt x="20070" y="91522"/>
                    <a:pt x="0" y="139976"/>
                    <a:pt x="0" y="190500"/>
                  </a:cubicBezTo>
                  <a:lnTo>
                    <a:pt x="0" y="650772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4" id="34"/>
            <p:cNvSpPr/>
            <p:nvPr/>
          </p:nvSpPr>
          <p:spPr>
            <a:xfrm>
              <a:off x="3459543" y="2731041"/>
              <a:ext cx="586858" cy="866015"/>
            </a:xfrm>
            <a:custGeom>
              <a:avLst/>
              <a:gdLst/>
              <a:ahLst/>
              <a:cxnLst/>
              <a:rect r="r" b="b" t="t" l="l"/>
              <a:pathLst>
                <a:path h="866015" w="586858">
                  <a:moveTo>
                    <a:pt x="0" y="0"/>
                  </a:moveTo>
                  <a:lnTo>
                    <a:pt x="396357" y="0"/>
                  </a:lnTo>
                  <a:cubicBezTo>
                    <a:pt x="446881" y="0"/>
                    <a:pt x="495335" y="20070"/>
                    <a:pt x="531061" y="55796"/>
                  </a:cubicBezTo>
                  <a:cubicBezTo>
                    <a:pt x="566787" y="91522"/>
                    <a:pt x="586857" y="139976"/>
                    <a:pt x="586857" y="190500"/>
                  </a:cubicBezTo>
                  <a:lnTo>
                    <a:pt x="586857" y="866015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5" id="35"/>
            <p:cNvSpPr/>
            <p:nvPr/>
          </p:nvSpPr>
          <p:spPr>
            <a:xfrm>
              <a:off x="942920" y="3173137"/>
              <a:ext cx="393127" cy="1074692"/>
            </a:xfrm>
            <a:custGeom>
              <a:avLst/>
              <a:gdLst/>
              <a:ahLst/>
              <a:cxnLst/>
              <a:rect r="r" b="b" t="t" l="l"/>
              <a:pathLst>
                <a:path h="1074692" w="393127">
                  <a:moveTo>
                    <a:pt x="0" y="0"/>
                  </a:moveTo>
                  <a:lnTo>
                    <a:pt x="4614" y="0"/>
                  </a:lnTo>
                  <a:cubicBezTo>
                    <a:pt x="5837" y="0"/>
                    <a:pt x="7011" y="486"/>
                    <a:pt x="7876" y="1351"/>
                  </a:cubicBezTo>
                  <a:cubicBezTo>
                    <a:pt x="8741" y="2217"/>
                    <a:pt x="9228" y="3390"/>
                    <a:pt x="9228" y="4614"/>
                  </a:cubicBezTo>
                  <a:lnTo>
                    <a:pt x="9228" y="884192"/>
                  </a:lnTo>
                  <a:cubicBezTo>
                    <a:pt x="9228" y="989402"/>
                    <a:pt x="94517" y="1074692"/>
                    <a:pt x="199728" y="1074692"/>
                  </a:cubicBezTo>
                  <a:lnTo>
                    <a:pt x="393127" y="1074692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6" id="36"/>
            <p:cNvGrpSpPr/>
            <p:nvPr/>
          </p:nvGrpSpPr>
          <p:grpSpPr>
            <a:xfrm rot="0">
              <a:off x="757137" y="778723"/>
              <a:ext cx="1206856" cy="2603090"/>
              <a:chOff x="0" y="0"/>
              <a:chExt cx="372435" cy="80331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72435" cy="803312"/>
              </a:xfrm>
              <a:custGeom>
                <a:avLst/>
                <a:gdLst/>
                <a:ahLst/>
                <a:cxnLst/>
                <a:rect r="r" b="b" t="t" l="l"/>
                <a:pathLst>
                  <a:path h="803312" w="372435">
                    <a:moveTo>
                      <a:pt x="128299" y="0"/>
                    </a:moveTo>
                    <a:lnTo>
                      <a:pt x="244136" y="0"/>
                    </a:lnTo>
                    <a:cubicBezTo>
                      <a:pt x="278163" y="0"/>
                      <a:pt x="310796" y="13517"/>
                      <a:pt x="334857" y="37578"/>
                    </a:cubicBezTo>
                    <a:cubicBezTo>
                      <a:pt x="358918" y="61639"/>
                      <a:pt x="372435" y="94272"/>
                      <a:pt x="372435" y="128299"/>
                    </a:cubicBezTo>
                    <a:lnTo>
                      <a:pt x="372435" y="675013"/>
                    </a:lnTo>
                    <a:cubicBezTo>
                      <a:pt x="372435" y="709040"/>
                      <a:pt x="358918" y="741673"/>
                      <a:pt x="334857" y="765734"/>
                    </a:cubicBezTo>
                    <a:cubicBezTo>
                      <a:pt x="310796" y="789795"/>
                      <a:pt x="278163" y="803312"/>
                      <a:pt x="244136" y="803312"/>
                    </a:cubicBezTo>
                    <a:lnTo>
                      <a:pt x="128299" y="803312"/>
                    </a:lnTo>
                    <a:cubicBezTo>
                      <a:pt x="94272" y="803312"/>
                      <a:pt x="61639" y="789795"/>
                      <a:pt x="37578" y="765734"/>
                    </a:cubicBezTo>
                    <a:cubicBezTo>
                      <a:pt x="13517" y="741673"/>
                      <a:pt x="0" y="709040"/>
                      <a:pt x="0" y="675013"/>
                    </a:cubicBezTo>
                    <a:lnTo>
                      <a:pt x="0" y="128299"/>
                    </a:lnTo>
                    <a:cubicBezTo>
                      <a:pt x="0" y="94272"/>
                      <a:pt x="13517" y="61639"/>
                      <a:pt x="37578" y="37578"/>
                    </a:cubicBezTo>
                    <a:cubicBezTo>
                      <a:pt x="61639" y="13517"/>
                      <a:pt x="94272" y="0"/>
                      <a:pt x="128299" y="0"/>
                    </a:cubicBezTo>
                    <a:close/>
                  </a:path>
                </a:pathLst>
              </a:custGeom>
              <a:solidFill>
                <a:srgbClr val="CAE8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372435" cy="850937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703022" y="778723"/>
              <a:ext cx="1206856" cy="1301545"/>
              <a:chOff x="0" y="0"/>
              <a:chExt cx="372435" cy="40165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72435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372435">
                    <a:moveTo>
                      <a:pt x="128299" y="0"/>
                    </a:moveTo>
                    <a:lnTo>
                      <a:pt x="244136" y="0"/>
                    </a:lnTo>
                    <a:cubicBezTo>
                      <a:pt x="278163" y="0"/>
                      <a:pt x="310796" y="13517"/>
                      <a:pt x="334857" y="37578"/>
                    </a:cubicBezTo>
                    <a:cubicBezTo>
                      <a:pt x="358918" y="61639"/>
                      <a:pt x="372435" y="94272"/>
                      <a:pt x="372435" y="128299"/>
                    </a:cubicBezTo>
                    <a:lnTo>
                      <a:pt x="372435" y="273357"/>
                    </a:lnTo>
                    <a:cubicBezTo>
                      <a:pt x="372435" y="307384"/>
                      <a:pt x="358918" y="340017"/>
                      <a:pt x="334857" y="364078"/>
                    </a:cubicBezTo>
                    <a:cubicBezTo>
                      <a:pt x="310796" y="388139"/>
                      <a:pt x="278163" y="401656"/>
                      <a:pt x="244136" y="401656"/>
                    </a:cubicBezTo>
                    <a:lnTo>
                      <a:pt x="128299" y="401656"/>
                    </a:lnTo>
                    <a:cubicBezTo>
                      <a:pt x="94272" y="401656"/>
                      <a:pt x="61639" y="388139"/>
                      <a:pt x="37578" y="364078"/>
                    </a:cubicBezTo>
                    <a:cubicBezTo>
                      <a:pt x="13517" y="340017"/>
                      <a:pt x="0" y="307384"/>
                      <a:pt x="0" y="273357"/>
                    </a:cubicBezTo>
                    <a:lnTo>
                      <a:pt x="0" y="128299"/>
                    </a:lnTo>
                    <a:cubicBezTo>
                      <a:pt x="0" y="94272"/>
                      <a:pt x="13517" y="61639"/>
                      <a:pt x="37578" y="37578"/>
                    </a:cubicBezTo>
                    <a:cubicBezTo>
                      <a:pt x="61639" y="13517"/>
                      <a:pt x="94272" y="0"/>
                      <a:pt x="128299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372435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336047" y="3597056"/>
              <a:ext cx="627946" cy="1301545"/>
              <a:chOff x="0" y="0"/>
              <a:chExt cx="193784" cy="40165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929516" y="3597056"/>
              <a:ext cx="627946" cy="1301545"/>
              <a:chOff x="0" y="0"/>
              <a:chExt cx="193784" cy="40165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522984" y="3597056"/>
              <a:ext cx="627946" cy="1301545"/>
              <a:chOff x="0" y="0"/>
              <a:chExt cx="193784" cy="40165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3116453" y="3597056"/>
              <a:ext cx="627946" cy="1301545"/>
              <a:chOff x="0" y="0"/>
              <a:chExt cx="193784" cy="40165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3709921" y="3597056"/>
              <a:ext cx="627946" cy="1301545"/>
              <a:chOff x="0" y="0"/>
              <a:chExt cx="193784" cy="40165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2149920" y="1855620"/>
              <a:ext cx="1415160" cy="1526193"/>
              <a:chOff x="0" y="0"/>
              <a:chExt cx="436718" cy="47098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36718" cy="470982"/>
              </a:xfrm>
              <a:custGeom>
                <a:avLst/>
                <a:gdLst/>
                <a:ahLst/>
                <a:cxnLst/>
                <a:rect r="r" b="b" t="t" l="l"/>
                <a:pathLst>
                  <a:path h="470982" w="436718">
                    <a:moveTo>
                      <a:pt x="109414" y="0"/>
                    </a:moveTo>
                    <a:lnTo>
                      <a:pt x="327304" y="0"/>
                    </a:lnTo>
                    <a:cubicBezTo>
                      <a:pt x="356322" y="0"/>
                      <a:pt x="384152" y="11528"/>
                      <a:pt x="404671" y="32047"/>
                    </a:cubicBezTo>
                    <a:cubicBezTo>
                      <a:pt x="425190" y="52566"/>
                      <a:pt x="436718" y="80396"/>
                      <a:pt x="436718" y="109414"/>
                    </a:cubicBezTo>
                    <a:lnTo>
                      <a:pt x="436718" y="361568"/>
                    </a:lnTo>
                    <a:cubicBezTo>
                      <a:pt x="436718" y="421996"/>
                      <a:pt x="387731" y="470982"/>
                      <a:pt x="327304" y="470982"/>
                    </a:cubicBezTo>
                    <a:lnTo>
                      <a:pt x="109414" y="470982"/>
                    </a:lnTo>
                    <a:cubicBezTo>
                      <a:pt x="48986" y="470982"/>
                      <a:pt x="0" y="421996"/>
                      <a:pt x="0" y="361568"/>
                    </a:cubicBezTo>
                    <a:lnTo>
                      <a:pt x="0" y="109414"/>
                    </a:lnTo>
                    <a:cubicBezTo>
                      <a:pt x="0" y="48986"/>
                      <a:pt x="48986" y="0"/>
                      <a:pt x="109414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436718" cy="518607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1975513" y="3535935"/>
            <a:ext cx="2144975" cy="1047750"/>
            <a:chOff x="0" y="0"/>
            <a:chExt cx="2859967" cy="13970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2859967" cy="1397000"/>
              <a:chOff x="0" y="0"/>
              <a:chExt cx="564932" cy="275951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564932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564932">
                    <a:moveTo>
                      <a:pt x="72187" y="0"/>
                    </a:moveTo>
                    <a:lnTo>
                      <a:pt x="492745" y="0"/>
                    </a:lnTo>
                    <a:cubicBezTo>
                      <a:pt x="532613" y="0"/>
                      <a:pt x="564932" y="32319"/>
                      <a:pt x="564932" y="72187"/>
                    </a:cubicBezTo>
                    <a:lnTo>
                      <a:pt x="564932" y="203764"/>
                    </a:lnTo>
                    <a:cubicBezTo>
                      <a:pt x="564932" y="243632"/>
                      <a:pt x="532613" y="275951"/>
                      <a:pt x="492745" y="275951"/>
                    </a:cubicBezTo>
                    <a:lnTo>
                      <a:pt x="72187" y="275951"/>
                    </a:lnTo>
                    <a:cubicBezTo>
                      <a:pt x="32319" y="275951"/>
                      <a:pt x="0" y="243632"/>
                      <a:pt x="0" y="203764"/>
                    </a:cubicBezTo>
                    <a:lnTo>
                      <a:pt x="0" y="72187"/>
                    </a:lnTo>
                    <a:cubicBezTo>
                      <a:pt x="0" y="32319"/>
                      <a:pt x="32319" y="0"/>
                      <a:pt x="72187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564932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49001" y="257810"/>
              <a:ext cx="2618292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Addition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06688" y="5419663"/>
            <a:ext cx="2730285" cy="1047750"/>
            <a:chOff x="0" y="0"/>
            <a:chExt cx="3640380" cy="13970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3640380" cy="1397000"/>
              <a:chOff x="0" y="0"/>
              <a:chExt cx="719087" cy="275951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719087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719087">
                    <a:moveTo>
                      <a:pt x="56711" y="0"/>
                    </a:moveTo>
                    <a:lnTo>
                      <a:pt x="662376" y="0"/>
                    </a:lnTo>
                    <a:cubicBezTo>
                      <a:pt x="693697" y="0"/>
                      <a:pt x="719087" y="25391"/>
                      <a:pt x="719087" y="56711"/>
                    </a:cubicBezTo>
                    <a:lnTo>
                      <a:pt x="719087" y="219239"/>
                    </a:lnTo>
                    <a:cubicBezTo>
                      <a:pt x="719087" y="250560"/>
                      <a:pt x="693697" y="275951"/>
                      <a:pt x="662376" y="275951"/>
                    </a:cubicBezTo>
                    <a:lnTo>
                      <a:pt x="56711" y="275951"/>
                    </a:lnTo>
                    <a:cubicBezTo>
                      <a:pt x="25391" y="275951"/>
                      <a:pt x="0" y="250560"/>
                      <a:pt x="0" y="219239"/>
                    </a:cubicBezTo>
                    <a:lnTo>
                      <a:pt x="0" y="56711"/>
                    </a:lnTo>
                    <a:cubicBezTo>
                      <a:pt x="0" y="25391"/>
                      <a:pt x="25391" y="0"/>
                      <a:pt x="56711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719087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0" y="257810"/>
              <a:ext cx="364038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Subtraction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4628360" y="5362513"/>
            <a:ext cx="850599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Invert the second number using NOT gates.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Add 1 to get Two’s Complement.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Add it to the first number.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52336" y="7320218"/>
            <a:ext cx="8505991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− B = A + 2’s Complement of B</a:t>
            </a:r>
          </a:p>
          <a:p>
            <a:pPr algn="l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2430" y="827389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86400" y="2980507"/>
            <a:ext cx="7634197" cy="1603181"/>
          </a:xfrm>
          <a:custGeom>
            <a:avLst/>
            <a:gdLst/>
            <a:ahLst/>
            <a:cxnLst/>
            <a:rect r="r" b="b" t="t" l="l"/>
            <a:pathLst>
              <a:path h="1603181" w="7634197">
                <a:moveTo>
                  <a:pt x="0" y="0"/>
                </a:moveTo>
                <a:lnTo>
                  <a:pt x="7634197" y="0"/>
                </a:lnTo>
                <a:lnTo>
                  <a:pt x="7634197" y="1603182"/>
                </a:lnTo>
                <a:lnTo>
                  <a:pt x="0" y="160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41879" y="6472852"/>
            <a:ext cx="7634197" cy="1603181"/>
          </a:xfrm>
          <a:custGeom>
            <a:avLst/>
            <a:gdLst/>
            <a:ahLst/>
            <a:cxnLst/>
            <a:rect r="r" b="b" t="t" l="l"/>
            <a:pathLst>
              <a:path h="1603181" w="7634197">
                <a:moveTo>
                  <a:pt x="0" y="0"/>
                </a:moveTo>
                <a:lnTo>
                  <a:pt x="7634197" y="0"/>
                </a:lnTo>
                <a:lnTo>
                  <a:pt x="7634197" y="1603181"/>
                </a:lnTo>
                <a:lnTo>
                  <a:pt x="0" y="1603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41551" y="1466727"/>
            <a:ext cx="11892201" cy="103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Range of 8- bit Signed Numbers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047615"/>
            <a:ext cx="15953095" cy="146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Minimum = -128</a:t>
            </a:r>
          </a:p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Maximum = +127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67365" y="6463547"/>
            <a:ext cx="3983224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  ⟶ positive</a:t>
            </a:r>
          </a:p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⟶ negative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72032" y="4890350"/>
            <a:ext cx="5466432" cy="9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55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value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939102" y="7058653"/>
          <a:ext cx="6191250" cy="829733"/>
        </p:xfrm>
        <a:graphic>
          <a:graphicData uri="http://schemas.openxmlformats.org/drawingml/2006/table">
            <a:tbl>
              <a:tblPr/>
              <a:tblGrid>
                <a:gridCol w="767195"/>
                <a:gridCol w="767195"/>
                <a:gridCol w="749298"/>
                <a:gridCol w="785092"/>
                <a:gridCol w="785092"/>
                <a:gridCol w="785092"/>
                <a:gridCol w="785092"/>
                <a:gridCol w="767195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0620733" y="7058653"/>
          <a:ext cx="6191250" cy="829733"/>
        </p:xfrm>
        <a:graphic>
          <a:graphicData uri="http://schemas.openxmlformats.org/drawingml/2006/table">
            <a:tbl>
              <a:tblPr/>
              <a:tblGrid>
                <a:gridCol w="767195"/>
                <a:gridCol w="767195"/>
                <a:gridCol w="749298"/>
                <a:gridCol w="785092"/>
                <a:gridCol w="785092"/>
                <a:gridCol w="785092"/>
                <a:gridCol w="785092"/>
                <a:gridCol w="767195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4146341" y="8041746"/>
          <a:ext cx="6191250" cy="829733"/>
        </p:xfrm>
        <a:graphic>
          <a:graphicData uri="http://schemas.openxmlformats.org/drawingml/2006/table">
            <a:tbl>
              <a:tblPr/>
              <a:tblGrid>
                <a:gridCol w="684369"/>
                <a:gridCol w="684369"/>
                <a:gridCol w="668404"/>
                <a:gridCol w="668404"/>
                <a:gridCol w="700334"/>
                <a:gridCol w="700334"/>
                <a:gridCol w="700334"/>
                <a:gridCol w="700334"/>
                <a:gridCol w="684369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2939102" y="2156055"/>
            <a:ext cx="11210119" cy="4578748"/>
          </a:xfrm>
          <a:custGeom>
            <a:avLst/>
            <a:gdLst/>
            <a:ahLst/>
            <a:cxnLst/>
            <a:rect r="r" b="b" t="t" l="l"/>
            <a:pathLst>
              <a:path h="4578748" w="11210119">
                <a:moveTo>
                  <a:pt x="0" y="0"/>
                </a:moveTo>
                <a:lnTo>
                  <a:pt x="11210119" y="0"/>
                </a:lnTo>
                <a:lnTo>
                  <a:pt x="11210119" y="4578748"/>
                </a:lnTo>
                <a:lnTo>
                  <a:pt x="0" y="4578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033" r="0" b="-1438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27549" y="1190625"/>
            <a:ext cx="9835694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Demo in Logisim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648943" y="7165226"/>
            <a:ext cx="6191250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A=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6916" y="7124950"/>
            <a:ext cx="54744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8124825"/>
            <a:ext cx="619125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Result =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81523" y="8010364"/>
            <a:ext cx="1534835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8-5=3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71090" y="1908329"/>
            <a:ext cx="9835694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Github 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48000" y="4657662"/>
            <a:ext cx="11559421" cy="7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https://github.com/neerudimadhupriya-cmyk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DAHTUHAq70Y</dc:identifier>
  <dcterms:modified xsi:type="dcterms:W3CDTF">2011-08-01T06:04:30Z</dcterms:modified>
  <cp:revision>1</cp:revision>
  <dc:title>8-BIT BINARY NUMBER REPRESENTATION USING TWO'S COMPLIMENT</dc:title>
</cp:coreProperties>
</file>