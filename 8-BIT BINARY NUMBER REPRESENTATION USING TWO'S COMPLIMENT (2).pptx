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HK Grotesk Bold" charset="1" panose="00000800000000000000"/>
      <p:regular r:id="rId13"/>
    </p:embeddedFont>
    <p:embeddedFont>
      <p:font typeface="HK Grotesk Medium" charset="1" panose="00000600000000000000"/>
      <p:regular r:id="rId14"/>
    </p:embeddedFont>
    <p:embeddedFont>
      <p:font typeface="Canva Sans Bold" charset="1" panose="020B0803030501040103"/>
      <p:regular r:id="rId15"/>
    </p:embeddedFont>
    <p:embeddedFont>
      <p:font typeface="HK Grotesk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6665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067601" y="3177554"/>
            <a:ext cx="15191699" cy="3789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081"/>
              </a:lnSpc>
            </a:pPr>
            <a:r>
              <a:rPr lang="en-US" b="true" sz="7201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8-Bit Signed Binary Number Representation Using Two’s Complement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56279" y="7228840"/>
            <a:ext cx="15052946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</a:pPr>
            <a:r>
              <a:rPr lang="en-US" b="true" sz="5600" spc="448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DESIGN AND SIMULATION IN LOGISIM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6279" y="1514352"/>
            <a:ext cx="6532268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DDCA|</a:t>
            </a:r>
            <a:r>
              <a:rPr lang="en-US" sz="33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Computer Science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65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533186" y="3551924"/>
            <a:ext cx="9221629" cy="3630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57"/>
              </a:lnSpc>
            </a:pPr>
            <a:r>
              <a:rPr lang="en-US" sz="5183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Madhu priya-2620080072</a:t>
            </a:r>
          </a:p>
          <a:p>
            <a:pPr algn="ctr">
              <a:lnSpc>
                <a:spcPts val="7257"/>
              </a:lnSpc>
            </a:pPr>
            <a:r>
              <a:rPr lang="en-US" sz="5183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 Jeyanth vighnesh-2620080063</a:t>
            </a:r>
          </a:p>
          <a:p>
            <a:pPr algn="ctr">
              <a:lnSpc>
                <a:spcPts val="7257"/>
              </a:lnSpc>
            </a:pPr>
            <a:r>
              <a:rPr lang="en-US" sz="5183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Venkata ramana-2620080054</a:t>
            </a:r>
          </a:p>
          <a:p>
            <a:pPr algn="ctr">
              <a:lnSpc>
                <a:spcPts val="7257"/>
              </a:lnSpc>
              <a:spcBef>
                <a:spcPct val="0"/>
              </a:spcBef>
            </a:pPr>
            <a:r>
              <a:rPr lang="en-US" b="true" sz="5183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Juhitha-2620080124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67452" y="1949188"/>
            <a:ext cx="15953095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PRESENTED</a:t>
            </a:r>
            <a:r>
              <a:rPr lang="en-US" b="true" sz="5199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BY: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-561699" y="6595353"/>
            <a:ext cx="5868225" cy="3691647"/>
          </a:xfrm>
          <a:custGeom>
            <a:avLst/>
            <a:gdLst/>
            <a:ahLst/>
            <a:cxnLst/>
            <a:rect r="r" b="b" t="t" l="l"/>
            <a:pathLst>
              <a:path h="3691647" w="5868225">
                <a:moveTo>
                  <a:pt x="0" y="0"/>
                </a:moveTo>
                <a:lnTo>
                  <a:pt x="5868224" y="0"/>
                </a:lnTo>
                <a:lnTo>
                  <a:pt x="5868224" y="3691647"/>
                </a:lnTo>
                <a:lnTo>
                  <a:pt x="0" y="36916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148462" y="7351914"/>
            <a:ext cx="4339508" cy="2935086"/>
          </a:xfrm>
          <a:custGeom>
            <a:avLst/>
            <a:gdLst/>
            <a:ahLst/>
            <a:cxnLst/>
            <a:rect r="r" b="b" t="t" l="l"/>
            <a:pathLst>
              <a:path h="2935086" w="4339508">
                <a:moveTo>
                  <a:pt x="0" y="0"/>
                </a:moveTo>
                <a:lnTo>
                  <a:pt x="4339508" y="0"/>
                </a:lnTo>
                <a:lnTo>
                  <a:pt x="4339508" y="2935086"/>
                </a:lnTo>
                <a:lnTo>
                  <a:pt x="0" y="29350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40597" y="-268089"/>
            <a:ext cx="4279210" cy="3104372"/>
          </a:xfrm>
          <a:custGeom>
            <a:avLst/>
            <a:gdLst/>
            <a:ahLst/>
            <a:cxnLst/>
            <a:rect r="r" b="b" t="t" l="l"/>
            <a:pathLst>
              <a:path h="3104372" w="4279210">
                <a:moveTo>
                  <a:pt x="0" y="0"/>
                </a:moveTo>
                <a:lnTo>
                  <a:pt x="4279210" y="0"/>
                </a:lnTo>
                <a:lnTo>
                  <a:pt x="4279210" y="3104372"/>
                </a:lnTo>
                <a:lnTo>
                  <a:pt x="0" y="310437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-116208" y="0"/>
            <a:ext cx="4183383" cy="2836283"/>
          </a:xfrm>
          <a:custGeom>
            <a:avLst/>
            <a:gdLst/>
            <a:ahLst/>
            <a:cxnLst/>
            <a:rect r="r" b="b" t="t" l="l"/>
            <a:pathLst>
              <a:path h="2836283" w="4183383">
                <a:moveTo>
                  <a:pt x="0" y="0"/>
                </a:moveTo>
                <a:lnTo>
                  <a:pt x="4183383" y="0"/>
                </a:lnTo>
                <a:lnTo>
                  <a:pt x="4183383" y="2836283"/>
                </a:lnTo>
                <a:lnTo>
                  <a:pt x="0" y="283628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-1662" b="-1396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6665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211856" y="1028700"/>
            <a:ext cx="15953095" cy="7957715"/>
            <a:chOff x="0" y="0"/>
            <a:chExt cx="4201638" cy="2095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2206819" y="1400052"/>
            <a:ext cx="13874363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b="true" sz="92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Statement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2118011" y="2976121"/>
            <a:ext cx="13963171" cy="1047750"/>
            <a:chOff x="0" y="0"/>
            <a:chExt cx="18617561" cy="13970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8617561" cy="1397000"/>
              <a:chOff x="0" y="0"/>
              <a:chExt cx="3677543" cy="27595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3677543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3677543">
                    <a:moveTo>
                      <a:pt x="11089" y="0"/>
                    </a:moveTo>
                    <a:lnTo>
                      <a:pt x="3666454" y="0"/>
                    </a:lnTo>
                    <a:cubicBezTo>
                      <a:pt x="3672578" y="0"/>
                      <a:pt x="3677543" y="4965"/>
                      <a:pt x="3677543" y="11089"/>
                    </a:cubicBezTo>
                    <a:lnTo>
                      <a:pt x="3677543" y="264862"/>
                    </a:lnTo>
                    <a:cubicBezTo>
                      <a:pt x="3677543" y="270986"/>
                      <a:pt x="3672578" y="275951"/>
                      <a:pt x="3666454" y="275951"/>
                    </a:cubicBezTo>
                    <a:lnTo>
                      <a:pt x="11089" y="275951"/>
                    </a:lnTo>
                    <a:cubicBezTo>
                      <a:pt x="8148" y="275951"/>
                      <a:pt x="5328" y="274782"/>
                      <a:pt x="3248" y="272703"/>
                    </a:cubicBezTo>
                    <a:cubicBezTo>
                      <a:pt x="1168" y="270623"/>
                      <a:pt x="0" y="267803"/>
                      <a:pt x="0" y="264862"/>
                    </a:cubicBezTo>
                    <a:lnTo>
                      <a:pt x="0" y="11089"/>
                    </a:lnTo>
                    <a:cubicBezTo>
                      <a:pt x="0" y="4965"/>
                      <a:pt x="4965" y="0"/>
                      <a:pt x="11089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3677543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912413" y="257810"/>
              <a:ext cx="17044331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Design an 8-bit binary circuit in Logisim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118011" y="4371913"/>
            <a:ext cx="13963171" cy="1047750"/>
            <a:chOff x="0" y="0"/>
            <a:chExt cx="18617561" cy="1397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18617561" cy="1397000"/>
              <a:chOff x="0" y="0"/>
              <a:chExt cx="3677543" cy="275951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3677543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3677543">
                    <a:moveTo>
                      <a:pt x="11089" y="0"/>
                    </a:moveTo>
                    <a:lnTo>
                      <a:pt x="3666454" y="0"/>
                    </a:lnTo>
                    <a:cubicBezTo>
                      <a:pt x="3672578" y="0"/>
                      <a:pt x="3677543" y="4965"/>
                      <a:pt x="3677543" y="11089"/>
                    </a:cubicBezTo>
                    <a:lnTo>
                      <a:pt x="3677543" y="264862"/>
                    </a:lnTo>
                    <a:cubicBezTo>
                      <a:pt x="3677543" y="270986"/>
                      <a:pt x="3672578" y="275951"/>
                      <a:pt x="3666454" y="275951"/>
                    </a:cubicBezTo>
                    <a:lnTo>
                      <a:pt x="11089" y="275951"/>
                    </a:lnTo>
                    <a:cubicBezTo>
                      <a:pt x="8148" y="275951"/>
                      <a:pt x="5328" y="274782"/>
                      <a:pt x="3248" y="272703"/>
                    </a:cubicBezTo>
                    <a:cubicBezTo>
                      <a:pt x="1168" y="270623"/>
                      <a:pt x="0" y="267803"/>
                      <a:pt x="0" y="264862"/>
                    </a:cubicBezTo>
                    <a:lnTo>
                      <a:pt x="0" y="11089"/>
                    </a:lnTo>
                    <a:cubicBezTo>
                      <a:pt x="0" y="4965"/>
                      <a:pt x="4965" y="0"/>
                      <a:pt x="11089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3677543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912413" y="257810"/>
              <a:ext cx="17044331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Represent positive and negative numbers.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2206819" y="7141846"/>
            <a:ext cx="13963171" cy="1047750"/>
            <a:chOff x="0" y="0"/>
            <a:chExt cx="18617561" cy="1397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8617561" cy="1397000"/>
              <a:chOff x="0" y="0"/>
              <a:chExt cx="3677543" cy="275951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3677543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3677543">
                    <a:moveTo>
                      <a:pt x="11089" y="0"/>
                    </a:moveTo>
                    <a:lnTo>
                      <a:pt x="3666454" y="0"/>
                    </a:lnTo>
                    <a:cubicBezTo>
                      <a:pt x="3672578" y="0"/>
                      <a:pt x="3677543" y="4965"/>
                      <a:pt x="3677543" y="11089"/>
                    </a:cubicBezTo>
                    <a:lnTo>
                      <a:pt x="3677543" y="264862"/>
                    </a:lnTo>
                    <a:cubicBezTo>
                      <a:pt x="3677543" y="270986"/>
                      <a:pt x="3672578" y="275951"/>
                      <a:pt x="3666454" y="275951"/>
                    </a:cubicBezTo>
                    <a:lnTo>
                      <a:pt x="11089" y="275951"/>
                    </a:lnTo>
                    <a:cubicBezTo>
                      <a:pt x="8148" y="275951"/>
                      <a:pt x="5328" y="274782"/>
                      <a:pt x="3248" y="272703"/>
                    </a:cubicBezTo>
                    <a:cubicBezTo>
                      <a:pt x="1168" y="270623"/>
                      <a:pt x="0" y="267803"/>
                      <a:pt x="0" y="264862"/>
                    </a:cubicBezTo>
                    <a:lnTo>
                      <a:pt x="0" y="11089"/>
                    </a:lnTo>
                    <a:cubicBezTo>
                      <a:pt x="0" y="4965"/>
                      <a:pt x="4965" y="0"/>
                      <a:pt x="11089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3677543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318980" y="257810"/>
              <a:ext cx="17044331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Use Two’s Complement for subtraction.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2118011" y="5772088"/>
            <a:ext cx="13963171" cy="1047750"/>
            <a:chOff x="0" y="0"/>
            <a:chExt cx="3677543" cy="27595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677543" cy="275951"/>
            </a:xfrm>
            <a:custGeom>
              <a:avLst/>
              <a:gdLst/>
              <a:ahLst/>
              <a:cxnLst/>
              <a:rect r="r" b="b" t="t" l="l"/>
              <a:pathLst>
                <a:path h="275951" w="3677543">
                  <a:moveTo>
                    <a:pt x="11089" y="0"/>
                  </a:moveTo>
                  <a:lnTo>
                    <a:pt x="3666454" y="0"/>
                  </a:lnTo>
                  <a:cubicBezTo>
                    <a:pt x="3672578" y="0"/>
                    <a:pt x="3677543" y="4965"/>
                    <a:pt x="3677543" y="11089"/>
                  </a:cubicBezTo>
                  <a:lnTo>
                    <a:pt x="3677543" y="264862"/>
                  </a:lnTo>
                  <a:cubicBezTo>
                    <a:pt x="3677543" y="270986"/>
                    <a:pt x="3672578" y="275951"/>
                    <a:pt x="3666454" y="275951"/>
                  </a:cubicBezTo>
                  <a:lnTo>
                    <a:pt x="11089" y="275951"/>
                  </a:lnTo>
                  <a:cubicBezTo>
                    <a:pt x="8148" y="275951"/>
                    <a:pt x="5328" y="274782"/>
                    <a:pt x="3248" y="272703"/>
                  </a:cubicBezTo>
                  <a:cubicBezTo>
                    <a:pt x="1168" y="270623"/>
                    <a:pt x="0" y="267803"/>
                    <a:pt x="0" y="264862"/>
                  </a:cubicBezTo>
                  <a:lnTo>
                    <a:pt x="0" y="11089"/>
                  </a:lnTo>
                  <a:cubicBezTo>
                    <a:pt x="0" y="4965"/>
                    <a:pt x="4965" y="0"/>
                    <a:pt x="11089" y="0"/>
                  </a:cubicBezTo>
                  <a:close/>
                </a:path>
              </a:pathLst>
            </a:custGeom>
            <a:solidFill>
              <a:srgbClr val="FFDE5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3677543" cy="314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974470" y="5902929"/>
            <a:ext cx="13963171" cy="6794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000000"/>
                </a:solidFill>
                <a:latin typeface="HK Grotesk"/>
                <a:ea typeface="HK Grotesk"/>
                <a:cs typeface="HK Grotesk"/>
                <a:sym typeface="HK Grotesk"/>
              </a:rPr>
              <a:t>Perform addition and subtraction.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6665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4346349" y="3542920"/>
            <a:ext cx="8505991" cy="976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Two 8-bit numbers are given as input.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Full Adders are used for addition.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706688" y="1400052"/>
            <a:ext cx="12285900" cy="1576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880"/>
              </a:lnSpc>
            </a:pPr>
            <a:r>
              <a:rPr lang="en-US" sz="9200" b="true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Design / Methodology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461442" y="3276538"/>
            <a:ext cx="4286250" cy="4286250"/>
            <a:chOff x="0" y="0"/>
            <a:chExt cx="5715000" cy="5715000"/>
          </a:xfrm>
        </p:grpSpPr>
        <p:sp>
          <p:nvSpPr>
            <p:cNvPr name="AutoShape 11" id="11"/>
            <p:cNvSpPr/>
            <p:nvPr/>
          </p:nvSpPr>
          <p:spPr>
            <a:xfrm>
              <a:off x="0" y="1185126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2" id="12"/>
            <p:cNvSpPr/>
            <p:nvPr/>
          </p:nvSpPr>
          <p:spPr>
            <a:xfrm>
              <a:off x="0" y="1854075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3" id="13"/>
            <p:cNvSpPr/>
            <p:nvPr/>
          </p:nvSpPr>
          <p:spPr>
            <a:xfrm>
              <a:off x="0" y="2523025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4" id="14"/>
            <p:cNvSpPr/>
            <p:nvPr/>
          </p:nvSpPr>
          <p:spPr>
            <a:xfrm>
              <a:off x="0" y="3191975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5" id="15"/>
            <p:cNvSpPr/>
            <p:nvPr/>
          </p:nvSpPr>
          <p:spPr>
            <a:xfrm>
              <a:off x="0" y="3860925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6" id="16"/>
            <p:cNvSpPr/>
            <p:nvPr/>
          </p:nvSpPr>
          <p:spPr>
            <a:xfrm>
              <a:off x="0" y="4529874"/>
              <a:ext cx="5715000" cy="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7" id="17"/>
            <p:cNvSpPr/>
            <p:nvPr/>
          </p:nvSpPr>
          <p:spPr>
            <a:xfrm flipV="true">
              <a:off x="1184240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8" id="18"/>
            <p:cNvSpPr/>
            <p:nvPr/>
          </p:nvSpPr>
          <p:spPr>
            <a:xfrm flipV="true">
              <a:off x="1853189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9" id="19"/>
            <p:cNvSpPr/>
            <p:nvPr/>
          </p:nvSpPr>
          <p:spPr>
            <a:xfrm flipV="true">
              <a:off x="2522139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0" id="20"/>
            <p:cNvSpPr/>
            <p:nvPr/>
          </p:nvSpPr>
          <p:spPr>
            <a:xfrm flipV="true">
              <a:off x="3191089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1" id="21"/>
            <p:cNvSpPr/>
            <p:nvPr/>
          </p:nvSpPr>
          <p:spPr>
            <a:xfrm flipV="true">
              <a:off x="3860039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 flipV="true">
              <a:off x="4528988" y="0"/>
              <a:ext cx="0" cy="5715000"/>
            </a:xfrm>
            <a:prstGeom prst="line">
              <a:avLst/>
            </a:prstGeom>
            <a:ln cap="rnd" w="3175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23" id="23"/>
            <p:cNvGrpSpPr/>
            <p:nvPr/>
          </p:nvGrpSpPr>
          <p:grpSpPr>
            <a:xfrm rot="0">
              <a:off x="444500" y="444500"/>
              <a:ext cx="4826000" cy="4826000"/>
              <a:chOff x="0" y="0"/>
              <a:chExt cx="1395072" cy="1395072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1395072" cy="1395072"/>
              </a:xfrm>
              <a:custGeom>
                <a:avLst/>
                <a:gdLst/>
                <a:ahLst/>
                <a:cxnLst/>
                <a:rect r="r" b="b" t="t" l="l"/>
                <a:pathLst>
                  <a:path h="1395072" w="1395072">
                    <a:moveTo>
                      <a:pt x="53474" y="0"/>
                    </a:moveTo>
                    <a:lnTo>
                      <a:pt x="1341599" y="0"/>
                    </a:lnTo>
                    <a:cubicBezTo>
                      <a:pt x="1355781" y="0"/>
                      <a:pt x="1369382" y="5634"/>
                      <a:pt x="1379410" y="15662"/>
                    </a:cubicBezTo>
                    <a:cubicBezTo>
                      <a:pt x="1389439" y="25690"/>
                      <a:pt x="1395072" y="39292"/>
                      <a:pt x="1395072" y="53474"/>
                    </a:cubicBezTo>
                    <a:lnTo>
                      <a:pt x="1395072" y="1341599"/>
                    </a:lnTo>
                    <a:cubicBezTo>
                      <a:pt x="1395072" y="1371131"/>
                      <a:pt x="1371131" y="1395072"/>
                      <a:pt x="1341599" y="1395072"/>
                    </a:cubicBezTo>
                    <a:lnTo>
                      <a:pt x="53474" y="1395072"/>
                    </a:lnTo>
                    <a:cubicBezTo>
                      <a:pt x="23941" y="1395072"/>
                      <a:pt x="0" y="1371131"/>
                      <a:pt x="0" y="1341599"/>
                    </a:cubicBezTo>
                    <a:lnTo>
                      <a:pt x="0" y="53474"/>
                    </a:lnTo>
                    <a:cubicBezTo>
                      <a:pt x="0" y="23941"/>
                      <a:pt x="23941" y="0"/>
                      <a:pt x="53474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95250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1395072" cy="1433172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Freeform 26" id="26"/>
            <p:cNvSpPr/>
            <p:nvPr/>
          </p:nvSpPr>
          <p:spPr>
            <a:xfrm>
              <a:off x="1963993" y="1166288"/>
              <a:ext cx="535040" cy="913981"/>
            </a:xfrm>
            <a:custGeom>
              <a:avLst/>
              <a:gdLst/>
              <a:ahLst/>
              <a:cxnLst/>
              <a:rect r="r" b="b" t="t" l="l"/>
              <a:pathLst>
                <a:path h="913981" w="535040">
                  <a:moveTo>
                    <a:pt x="0" y="0"/>
                  </a:moveTo>
                  <a:lnTo>
                    <a:pt x="344540" y="0"/>
                  </a:lnTo>
                  <a:cubicBezTo>
                    <a:pt x="395063" y="0"/>
                    <a:pt x="443518" y="20070"/>
                    <a:pt x="479244" y="55796"/>
                  </a:cubicBezTo>
                  <a:cubicBezTo>
                    <a:pt x="514969" y="91522"/>
                    <a:pt x="535040" y="139976"/>
                    <a:pt x="535040" y="190500"/>
                  </a:cubicBezTo>
                  <a:lnTo>
                    <a:pt x="535040" y="913980"/>
                  </a:lnTo>
                </a:path>
              </a:pathLst>
            </a:custGeom>
            <a:ln cap="flat" w="889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7" id="27"/>
            <p:cNvSpPr/>
            <p:nvPr/>
          </p:nvSpPr>
          <p:spPr>
            <a:xfrm>
              <a:off x="3167983" y="1429496"/>
              <a:ext cx="535040" cy="650773"/>
            </a:xfrm>
            <a:custGeom>
              <a:avLst/>
              <a:gdLst/>
              <a:ahLst/>
              <a:cxnLst/>
              <a:rect r="r" b="b" t="t" l="l"/>
              <a:pathLst>
                <a:path h="650773" w="535040">
                  <a:moveTo>
                    <a:pt x="535039" y="0"/>
                  </a:moveTo>
                  <a:lnTo>
                    <a:pt x="190500" y="0"/>
                  </a:lnTo>
                  <a:cubicBezTo>
                    <a:pt x="139976" y="0"/>
                    <a:pt x="91522" y="20070"/>
                    <a:pt x="55796" y="55796"/>
                  </a:cubicBezTo>
                  <a:cubicBezTo>
                    <a:pt x="20070" y="91522"/>
                    <a:pt x="0" y="139976"/>
                    <a:pt x="0" y="190500"/>
                  </a:cubicBezTo>
                  <a:lnTo>
                    <a:pt x="0" y="650772"/>
                  </a:lnTo>
                </a:path>
              </a:pathLst>
            </a:custGeom>
            <a:ln cap="flat" w="889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8" id="28"/>
            <p:cNvSpPr/>
            <p:nvPr/>
          </p:nvSpPr>
          <p:spPr>
            <a:xfrm>
              <a:off x="3459543" y="2731041"/>
              <a:ext cx="586858" cy="866015"/>
            </a:xfrm>
            <a:custGeom>
              <a:avLst/>
              <a:gdLst/>
              <a:ahLst/>
              <a:cxnLst/>
              <a:rect r="r" b="b" t="t" l="l"/>
              <a:pathLst>
                <a:path h="866015" w="586858">
                  <a:moveTo>
                    <a:pt x="0" y="0"/>
                  </a:moveTo>
                  <a:lnTo>
                    <a:pt x="396357" y="0"/>
                  </a:lnTo>
                  <a:cubicBezTo>
                    <a:pt x="446881" y="0"/>
                    <a:pt x="495335" y="20070"/>
                    <a:pt x="531061" y="55796"/>
                  </a:cubicBezTo>
                  <a:cubicBezTo>
                    <a:pt x="566787" y="91522"/>
                    <a:pt x="586857" y="139976"/>
                    <a:pt x="586857" y="190500"/>
                  </a:cubicBezTo>
                  <a:lnTo>
                    <a:pt x="586857" y="866015"/>
                  </a:lnTo>
                </a:path>
              </a:pathLst>
            </a:custGeom>
            <a:ln cap="flat" w="889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Freeform 29" id="29"/>
            <p:cNvSpPr/>
            <p:nvPr/>
          </p:nvSpPr>
          <p:spPr>
            <a:xfrm>
              <a:off x="942920" y="3173137"/>
              <a:ext cx="393127" cy="1074692"/>
            </a:xfrm>
            <a:custGeom>
              <a:avLst/>
              <a:gdLst/>
              <a:ahLst/>
              <a:cxnLst/>
              <a:rect r="r" b="b" t="t" l="l"/>
              <a:pathLst>
                <a:path h="1074692" w="393127">
                  <a:moveTo>
                    <a:pt x="0" y="0"/>
                  </a:moveTo>
                  <a:lnTo>
                    <a:pt x="4614" y="0"/>
                  </a:lnTo>
                  <a:cubicBezTo>
                    <a:pt x="5837" y="0"/>
                    <a:pt x="7011" y="486"/>
                    <a:pt x="7876" y="1351"/>
                  </a:cubicBezTo>
                  <a:cubicBezTo>
                    <a:pt x="8741" y="2217"/>
                    <a:pt x="9228" y="3390"/>
                    <a:pt x="9228" y="4614"/>
                  </a:cubicBezTo>
                  <a:lnTo>
                    <a:pt x="9228" y="884192"/>
                  </a:lnTo>
                  <a:cubicBezTo>
                    <a:pt x="9228" y="989402"/>
                    <a:pt x="94517" y="1074692"/>
                    <a:pt x="199728" y="1074692"/>
                  </a:cubicBezTo>
                  <a:lnTo>
                    <a:pt x="393127" y="1074692"/>
                  </a:lnTo>
                </a:path>
              </a:pathLst>
            </a:custGeom>
            <a:ln cap="flat" w="889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grpSp>
          <p:nvGrpSpPr>
            <p:cNvPr name="Group 30" id="30"/>
            <p:cNvGrpSpPr/>
            <p:nvPr/>
          </p:nvGrpSpPr>
          <p:grpSpPr>
            <a:xfrm rot="0">
              <a:off x="757137" y="778723"/>
              <a:ext cx="1206856" cy="2603090"/>
              <a:chOff x="0" y="0"/>
              <a:chExt cx="372435" cy="803312"/>
            </a:xfrm>
          </p:grpSpPr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372435" cy="803312"/>
              </a:xfrm>
              <a:custGeom>
                <a:avLst/>
                <a:gdLst/>
                <a:ahLst/>
                <a:cxnLst/>
                <a:rect r="r" b="b" t="t" l="l"/>
                <a:pathLst>
                  <a:path h="803312" w="372435">
                    <a:moveTo>
                      <a:pt x="128299" y="0"/>
                    </a:moveTo>
                    <a:lnTo>
                      <a:pt x="244136" y="0"/>
                    </a:lnTo>
                    <a:cubicBezTo>
                      <a:pt x="278163" y="0"/>
                      <a:pt x="310796" y="13517"/>
                      <a:pt x="334857" y="37578"/>
                    </a:cubicBezTo>
                    <a:cubicBezTo>
                      <a:pt x="358918" y="61639"/>
                      <a:pt x="372435" y="94272"/>
                      <a:pt x="372435" y="128299"/>
                    </a:cubicBezTo>
                    <a:lnTo>
                      <a:pt x="372435" y="675013"/>
                    </a:lnTo>
                    <a:cubicBezTo>
                      <a:pt x="372435" y="709040"/>
                      <a:pt x="358918" y="741673"/>
                      <a:pt x="334857" y="765734"/>
                    </a:cubicBezTo>
                    <a:cubicBezTo>
                      <a:pt x="310796" y="789795"/>
                      <a:pt x="278163" y="803312"/>
                      <a:pt x="244136" y="803312"/>
                    </a:cubicBezTo>
                    <a:lnTo>
                      <a:pt x="128299" y="803312"/>
                    </a:lnTo>
                    <a:cubicBezTo>
                      <a:pt x="94272" y="803312"/>
                      <a:pt x="61639" y="789795"/>
                      <a:pt x="37578" y="765734"/>
                    </a:cubicBezTo>
                    <a:cubicBezTo>
                      <a:pt x="13517" y="741673"/>
                      <a:pt x="0" y="709040"/>
                      <a:pt x="0" y="675013"/>
                    </a:cubicBezTo>
                    <a:lnTo>
                      <a:pt x="0" y="128299"/>
                    </a:lnTo>
                    <a:cubicBezTo>
                      <a:pt x="0" y="94272"/>
                      <a:pt x="13517" y="61639"/>
                      <a:pt x="37578" y="37578"/>
                    </a:cubicBezTo>
                    <a:cubicBezTo>
                      <a:pt x="61639" y="13517"/>
                      <a:pt x="94272" y="0"/>
                      <a:pt x="128299" y="0"/>
                    </a:cubicBezTo>
                    <a:close/>
                  </a:path>
                </a:pathLst>
              </a:custGeom>
              <a:solidFill>
                <a:srgbClr val="666565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2" id="32"/>
              <p:cNvSpPr txBox="true"/>
              <p:nvPr/>
            </p:nvSpPr>
            <p:spPr>
              <a:xfrm>
                <a:off x="0" y="-47625"/>
                <a:ext cx="372435" cy="850937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33" id="33"/>
            <p:cNvGrpSpPr/>
            <p:nvPr/>
          </p:nvGrpSpPr>
          <p:grpSpPr>
            <a:xfrm rot="0">
              <a:off x="3703022" y="778723"/>
              <a:ext cx="1206856" cy="1301545"/>
              <a:chOff x="0" y="0"/>
              <a:chExt cx="372435" cy="401656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372435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372435">
                    <a:moveTo>
                      <a:pt x="128299" y="0"/>
                    </a:moveTo>
                    <a:lnTo>
                      <a:pt x="244136" y="0"/>
                    </a:lnTo>
                    <a:cubicBezTo>
                      <a:pt x="278163" y="0"/>
                      <a:pt x="310796" y="13517"/>
                      <a:pt x="334857" y="37578"/>
                    </a:cubicBezTo>
                    <a:cubicBezTo>
                      <a:pt x="358918" y="61639"/>
                      <a:pt x="372435" y="94272"/>
                      <a:pt x="372435" y="128299"/>
                    </a:cubicBezTo>
                    <a:lnTo>
                      <a:pt x="372435" y="273357"/>
                    </a:lnTo>
                    <a:cubicBezTo>
                      <a:pt x="372435" y="307384"/>
                      <a:pt x="358918" y="340017"/>
                      <a:pt x="334857" y="364078"/>
                    </a:cubicBezTo>
                    <a:cubicBezTo>
                      <a:pt x="310796" y="388139"/>
                      <a:pt x="278163" y="401656"/>
                      <a:pt x="244136" y="401656"/>
                    </a:cubicBezTo>
                    <a:lnTo>
                      <a:pt x="128299" y="401656"/>
                    </a:lnTo>
                    <a:cubicBezTo>
                      <a:pt x="94272" y="401656"/>
                      <a:pt x="61639" y="388139"/>
                      <a:pt x="37578" y="364078"/>
                    </a:cubicBezTo>
                    <a:cubicBezTo>
                      <a:pt x="13517" y="340017"/>
                      <a:pt x="0" y="307384"/>
                      <a:pt x="0" y="273357"/>
                    </a:cubicBezTo>
                    <a:lnTo>
                      <a:pt x="0" y="128299"/>
                    </a:lnTo>
                    <a:cubicBezTo>
                      <a:pt x="0" y="94272"/>
                      <a:pt x="13517" y="61639"/>
                      <a:pt x="37578" y="37578"/>
                    </a:cubicBezTo>
                    <a:cubicBezTo>
                      <a:pt x="61639" y="13517"/>
                      <a:pt x="94272" y="0"/>
                      <a:pt x="128299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47625"/>
                <a:ext cx="372435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36" id="36"/>
            <p:cNvGrpSpPr/>
            <p:nvPr/>
          </p:nvGrpSpPr>
          <p:grpSpPr>
            <a:xfrm rot="0">
              <a:off x="1336047" y="3597056"/>
              <a:ext cx="627946" cy="1301545"/>
              <a:chOff x="0" y="0"/>
              <a:chExt cx="193784" cy="401656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39" id="39"/>
            <p:cNvGrpSpPr/>
            <p:nvPr/>
          </p:nvGrpSpPr>
          <p:grpSpPr>
            <a:xfrm rot="0">
              <a:off x="1929516" y="3597056"/>
              <a:ext cx="627946" cy="1301545"/>
              <a:chOff x="0" y="0"/>
              <a:chExt cx="193784" cy="401656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1" id="41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42" id="42"/>
            <p:cNvGrpSpPr/>
            <p:nvPr/>
          </p:nvGrpSpPr>
          <p:grpSpPr>
            <a:xfrm rot="0">
              <a:off x="2522984" y="3597056"/>
              <a:ext cx="627946" cy="1301545"/>
              <a:chOff x="0" y="0"/>
              <a:chExt cx="193784" cy="401656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4" id="44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45" id="45"/>
            <p:cNvGrpSpPr/>
            <p:nvPr/>
          </p:nvGrpSpPr>
          <p:grpSpPr>
            <a:xfrm rot="0">
              <a:off x="3116453" y="3597056"/>
              <a:ext cx="627946" cy="1301545"/>
              <a:chOff x="0" y="0"/>
              <a:chExt cx="193784" cy="401656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47" id="47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48" id="48"/>
            <p:cNvGrpSpPr/>
            <p:nvPr/>
          </p:nvGrpSpPr>
          <p:grpSpPr>
            <a:xfrm rot="0">
              <a:off x="3709921" y="3597056"/>
              <a:ext cx="627946" cy="1301545"/>
              <a:chOff x="0" y="0"/>
              <a:chExt cx="193784" cy="401656"/>
            </a:xfrm>
          </p:grpSpPr>
          <p:sp>
            <p:nvSpPr>
              <p:cNvPr name="Freeform 49" id="49"/>
              <p:cNvSpPr/>
              <p:nvPr/>
            </p:nvSpPr>
            <p:spPr>
              <a:xfrm flipH="false" flipV="false" rot="0">
                <a:off x="0" y="0"/>
                <a:ext cx="193784" cy="401656"/>
              </a:xfrm>
              <a:custGeom>
                <a:avLst/>
                <a:gdLst/>
                <a:ahLst/>
                <a:cxnLst/>
                <a:rect r="r" b="b" t="t" l="l"/>
                <a:pathLst>
                  <a:path h="401656" w="193784">
                    <a:moveTo>
                      <a:pt x="96892" y="0"/>
                    </a:moveTo>
                    <a:lnTo>
                      <a:pt x="96892" y="0"/>
                    </a:lnTo>
                    <a:cubicBezTo>
                      <a:pt x="150404" y="0"/>
                      <a:pt x="193784" y="43380"/>
                      <a:pt x="193784" y="96892"/>
                    </a:cubicBezTo>
                    <a:lnTo>
                      <a:pt x="193784" y="304764"/>
                    </a:lnTo>
                    <a:cubicBezTo>
                      <a:pt x="193784" y="358276"/>
                      <a:pt x="150404" y="401656"/>
                      <a:pt x="96892" y="401656"/>
                    </a:cubicBezTo>
                    <a:lnTo>
                      <a:pt x="96892" y="401656"/>
                    </a:lnTo>
                    <a:cubicBezTo>
                      <a:pt x="43380" y="401656"/>
                      <a:pt x="0" y="358276"/>
                      <a:pt x="0" y="304764"/>
                    </a:cubicBezTo>
                    <a:lnTo>
                      <a:pt x="0" y="96892"/>
                    </a:lnTo>
                    <a:cubicBezTo>
                      <a:pt x="0" y="43380"/>
                      <a:pt x="43380" y="0"/>
                      <a:pt x="96892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0" id="50"/>
              <p:cNvSpPr txBox="true"/>
              <p:nvPr/>
            </p:nvSpPr>
            <p:spPr>
              <a:xfrm>
                <a:off x="0" y="-47625"/>
                <a:ext cx="193784" cy="449281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  <p:grpSp>
          <p:nvGrpSpPr>
            <p:cNvPr name="Group 51" id="51"/>
            <p:cNvGrpSpPr/>
            <p:nvPr/>
          </p:nvGrpSpPr>
          <p:grpSpPr>
            <a:xfrm rot="0">
              <a:off x="2149920" y="1855620"/>
              <a:ext cx="1415160" cy="1526193"/>
              <a:chOff x="0" y="0"/>
              <a:chExt cx="436718" cy="470982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436718" cy="470982"/>
              </a:xfrm>
              <a:custGeom>
                <a:avLst/>
                <a:gdLst/>
                <a:ahLst/>
                <a:cxnLst/>
                <a:rect r="r" b="b" t="t" l="l"/>
                <a:pathLst>
                  <a:path h="470982" w="436718">
                    <a:moveTo>
                      <a:pt x="109414" y="0"/>
                    </a:moveTo>
                    <a:lnTo>
                      <a:pt x="327304" y="0"/>
                    </a:lnTo>
                    <a:cubicBezTo>
                      <a:pt x="356322" y="0"/>
                      <a:pt x="384152" y="11528"/>
                      <a:pt x="404671" y="32047"/>
                    </a:cubicBezTo>
                    <a:cubicBezTo>
                      <a:pt x="425190" y="52566"/>
                      <a:pt x="436718" y="80396"/>
                      <a:pt x="436718" y="109414"/>
                    </a:cubicBezTo>
                    <a:lnTo>
                      <a:pt x="436718" y="361568"/>
                    </a:lnTo>
                    <a:cubicBezTo>
                      <a:pt x="436718" y="421996"/>
                      <a:pt x="387731" y="470982"/>
                      <a:pt x="327304" y="470982"/>
                    </a:cubicBezTo>
                    <a:lnTo>
                      <a:pt x="109414" y="470982"/>
                    </a:lnTo>
                    <a:cubicBezTo>
                      <a:pt x="48986" y="470982"/>
                      <a:pt x="0" y="421996"/>
                      <a:pt x="0" y="361568"/>
                    </a:cubicBezTo>
                    <a:lnTo>
                      <a:pt x="0" y="109414"/>
                    </a:lnTo>
                    <a:cubicBezTo>
                      <a:pt x="0" y="48986"/>
                      <a:pt x="48986" y="0"/>
                      <a:pt x="109414" y="0"/>
                    </a:cubicBezTo>
                    <a:close/>
                  </a:path>
                </a:pathLst>
              </a:custGeom>
              <a:solidFill>
                <a:srgbClr val="F4F6FC"/>
              </a:solidFill>
              <a:ln w="4762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47625"/>
                <a:ext cx="436718" cy="518607"/>
              </a:xfrm>
              <a:prstGeom prst="rect">
                <a:avLst/>
              </a:prstGeom>
            </p:spPr>
            <p:txBody>
              <a:bodyPr anchor="ctr" rtlCol="false" tIns="32516" lIns="32516" bIns="32516" rIns="32516"/>
              <a:lstStyle/>
              <a:p>
                <a:pPr algn="ctr">
                  <a:lnSpc>
                    <a:spcPts val="2939"/>
                  </a:lnSpc>
                </a:pPr>
              </a:p>
            </p:txBody>
          </p:sp>
        </p:grpSp>
      </p:grpSp>
      <p:grpSp>
        <p:nvGrpSpPr>
          <p:cNvPr name="Group 54" id="54"/>
          <p:cNvGrpSpPr/>
          <p:nvPr/>
        </p:nvGrpSpPr>
        <p:grpSpPr>
          <a:xfrm rot="0">
            <a:off x="1975513" y="3535935"/>
            <a:ext cx="2144975" cy="1047750"/>
            <a:chOff x="0" y="0"/>
            <a:chExt cx="2859967" cy="1397000"/>
          </a:xfrm>
        </p:grpSpPr>
        <p:grpSp>
          <p:nvGrpSpPr>
            <p:cNvPr name="Group 55" id="55"/>
            <p:cNvGrpSpPr/>
            <p:nvPr/>
          </p:nvGrpSpPr>
          <p:grpSpPr>
            <a:xfrm rot="0">
              <a:off x="0" y="0"/>
              <a:ext cx="2859967" cy="1397000"/>
              <a:chOff x="0" y="0"/>
              <a:chExt cx="564932" cy="275951"/>
            </a:xfrm>
          </p:grpSpPr>
          <p:sp>
            <p:nvSpPr>
              <p:cNvPr name="Freeform 56" id="56"/>
              <p:cNvSpPr/>
              <p:nvPr/>
            </p:nvSpPr>
            <p:spPr>
              <a:xfrm flipH="false" flipV="false" rot="0">
                <a:off x="0" y="0"/>
                <a:ext cx="564932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564932">
                    <a:moveTo>
                      <a:pt x="72187" y="0"/>
                    </a:moveTo>
                    <a:lnTo>
                      <a:pt x="492745" y="0"/>
                    </a:lnTo>
                    <a:cubicBezTo>
                      <a:pt x="532613" y="0"/>
                      <a:pt x="564932" y="32319"/>
                      <a:pt x="564932" y="72187"/>
                    </a:cubicBezTo>
                    <a:lnTo>
                      <a:pt x="564932" y="203764"/>
                    </a:lnTo>
                    <a:cubicBezTo>
                      <a:pt x="564932" y="243632"/>
                      <a:pt x="532613" y="275951"/>
                      <a:pt x="492745" y="275951"/>
                    </a:cubicBezTo>
                    <a:lnTo>
                      <a:pt x="72187" y="275951"/>
                    </a:lnTo>
                    <a:cubicBezTo>
                      <a:pt x="32319" y="275951"/>
                      <a:pt x="0" y="243632"/>
                      <a:pt x="0" y="203764"/>
                    </a:cubicBezTo>
                    <a:lnTo>
                      <a:pt x="0" y="72187"/>
                    </a:lnTo>
                    <a:cubicBezTo>
                      <a:pt x="0" y="32319"/>
                      <a:pt x="32319" y="0"/>
                      <a:pt x="72187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57" id="57"/>
              <p:cNvSpPr txBox="true"/>
              <p:nvPr/>
            </p:nvSpPr>
            <p:spPr>
              <a:xfrm>
                <a:off x="0" y="-38100"/>
                <a:ext cx="564932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58" id="58"/>
            <p:cNvSpPr txBox="true"/>
            <p:nvPr/>
          </p:nvSpPr>
          <p:spPr>
            <a:xfrm rot="0">
              <a:off x="49001" y="257810"/>
              <a:ext cx="2618292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Addition</a:t>
              </a:r>
            </a:p>
          </p:txBody>
        </p:sp>
      </p:grpSp>
      <p:grpSp>
        <p:nvGrpSpPr>
          <p:cNvPr name="Group 59" id="59"/>
          <p:cNvGrpSpPr/>
          <p:nvPr/>
        </p:nvGrpSpPr>
        <p:grpSpPr>
          <a:xfrm rot="0">
            <a:off x="1706688" y="5419663"/>
            <a:ext cx="2730285" cy="1047750"/>
            <a:chOff x="0" y="0"/>
            <a:chExt cx="3640380" cy="1397000"/>
          </a:xfrm>
        </p:grpSpPr>
        <p:grpSp>
          <p:nvGrpSpPr>
            <p:cNvPr name="Group 60" id="60"/>
            <p:cNvGrpSpPr/>
            <p:nvPr/>
          </p:nvGrpSpPr>
          <p:grpSpPr>
            <a:xfrm rot="0">
              <a:off x="0" y="0"/>
              <a:ext cx="3640380" cy="1397000"/>
              <a:chOff x="0" y="0"/>
              <a:chExt cx="719087" cy="275951"/>
            </a:xfrm>
          </p:grpSpPr>
          <p:sp>
            <p:nvSpPr>
              <p:cNvPr name="Freeform 61" id="61"/>
              <p:cNvSpPr/>
              <p:nvPr/>
            </p:nvSpPr>
            <p:spPr>
              <a:xfrm flipH="false" flipV="false" rot="0">
                <a:off x="0" y="0"/>
                <a:ext cx="719087" cy="275951"/>
              </a:xfrm>
              <a:custGeom>
                <a:avLst/>
                <a:gdLst/>
                <a:ahLst/>
                <a:cxnLst/>
                <a:rect r="r" b="b" t="t" l="l"/>
                <a:pathLst>
                  <a:path h="275951" w="719087">
                    <a:moveTo>
                      <a:pt x="56711" y="0"/>
                    </a:moveTo>
                    <a:lnTo>
                      <a:pt x="662376" y="0"/>
                    </a:lnTo>
                    <a:cubicBezTo>
                      <a:pt x="693697" y="0"/>
                      <a:pt x="719087" y="25391"/>
                      <a:pt x="719087" y="56711"/>
                    </a:cubicBezTo>
                    <a:lnTo>
                      <a:pt x="719087" y="219239"/>
                    </a:lnTo>
                    <a:cubicBezTo>
                      <a:pt x="719087" y="250560"/>
                      <a:pt x="693697" y="275951"/>
                      <a:pt x="662376" y="275951"/>
                    </a:cubicBezTo>
                    <a:lnTo>
                      <a:pt x="56711" y="275951"/>
                    </a:lnTo>
                    <a:cubicBezTo>
                      <a:pt x="25391" y="275951"/>
                      <a:pt x="0" y="250560"/>
                      <a:pt x="0" y="219239"/>
                    </a:cubicBezTo>
                    <a:lnTo>
                      <a:pt x="0" y="56711"/>
                    </a:lnTo>
                    <a:cubicBezTo>
                      <a:pt x="0" y="25391"/>
                      <a:pt x="25391" y="0"/>
                      <a:pt x="56711" y="0"/>
                    </a:cubicBezTo>
                    <a:close/>
                  </a:path>
                </a:pathLst>
              </a:custGeom>
              <a:solidFill>
                <a:srgbClr val="FFDE59"/>
              </a:solidFill>
            </p:spPr>
          </p:sp>
          <p:sp>
            <p:nvSpPr>
              <p:cNvPr name="TextBox 62" id="62"/>
              <p:cNvSpPr txBox="true"/>
              <p:nvPr/>
            </p:nvSpPr>
            <p:spPr>
              <a:xfrm>
                <a:off x="0" y="-38100"/>
                <a:ext cx="719087" cy="314051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659"/>
                  </a:lnSpc>
                </a:pPr>
              </a:p>
            </p:txBody>
          </p:sp>
        </p:grpSp>
        <p:sp>
          <p:nvSpPr>
            <p:cNvPr name="TextBox 63" id="63"/>
            <p:cNvSpPr txBox="true"/>
            <p:nvPr/>
          </p:nvSpPr>
          <p:spPr>
            <a:xfrm rot="0">
              <a:off x="0" y="257810"/>
              <a:ext cx="3640380" cy="8051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040"/>
                </a:lnSpc>
              </a:pPr>
              <a:r>
                <a:rPr lang="en-US" sz="3600">
                  <a:solidFill>
                    <a:srgbClr val="000000"/>
                  </a:solidFill>
                  <a:latin typeface="HK Grotesk"/>
                  <a:ea typeface="HK Grotesk"/>
                  <a:cs typeface="HK Grotesk"/>
                  <a:sym typeface="HK Grotesk"/>
                </a:rPr>
                <a:t>Subtraction</a:t>
              </a: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4628360" y="5362513"/>
            <a:ext cx="8505991" cy="147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Invert the second number using NOT gates.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Add 1 to get Two’s Complement.</a:t>
            </a:r>
          </a:p>
          <a:p>
            <a:pPr algn="l">
              <a:lnSpc>
                <a:spcPts val="3919"/>
              </a:lnSpc>
            </a:pPr>
            <a:r>
              <a:rPr lang="en-US" sz="27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Add it to the first number.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752336" y="7320218"/>
            <a:ext cx="8505991" cy="11544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</a:pPr>
            <a:r>
              <a:rPr lang="en-US" sz="3299" b="true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 − B = A + 2’s Complement of B</a:t>
            </a:r>
          </a:p>
          <a:p>
            <a:pPr algn="l">
              <a:lnSpc>
                <a:spcPts val="461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65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482430" y="827389"/>
            <a:ext cx="15953095" cy="7957715"/>
            <a:chOff x="0" y="0"/>
            <a:chExt cx="4201638" cy="2095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5486400" y="2980507"/>
            <a:ext cx="7634197" cy="1603181"/>
          </a:xfrm>
          <a:custGeom>
            <a:avLst/>
            <a:gdLst/>
            <a:ahLst/>
            <a:cxnLst/>
            <a:rect r="r" b="b" t="t" l="l"/>
            <a:pathLst>
              <a:path h="1603181" w="7634197">
                <a:moveTo>
                  <a:pt x="0" y="0"/>
                </a:moveTo>
                <a:lnTo>
                  <a:pt x="7634197" y="0"/>
                </a:lnTo>
                <a:lnTo>
                  <a:pt x="7634197" y="1603182"/>
                </a:lnTo>
                <a:lnTo>
                  <a:pt x="0" y="16031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641879" y="6472852"/>
            <a:ext cx="7634197" cy="1603181"/>
          </a:xfrm>
          <a:custGeom>
            <a:avLst/>
            <a:gdLst/>
            <a:ahLst/>
            <a:cxnLst/>
            <a:rect r="r" b="b" t="t" l="l"/>
            <a:pathLst>
              <a:path h="1603181" w="7634197">
                <a:moveTo>
                  <a:pt x="0" y="0"/>
                </a:moveTo>
                <a:lnTo>
                  <a:pt x="7634197" y="0"/>
                </a:lnTo>
                <a:lnTo>
                  <a:pt x="7634197" y="1603181"/>
                </a:lnTo>
                <a:lnTo>
                  <a:pt x="0" y="160318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041551" y="1466727"/>
            <a:ext cx="11892201" cy="10356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40"/>
              </a:lnSpc>
            </a:pPr>
            <a:r>
              <a:rPr lang="en-US" sz="6100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Range of 8- bit Signed Numbers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2430" y="3135830"/>
            <a:ext cx="14451322" cy="1154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6"/>
              </a:lnSpc>
            </a:pPr>
            <a:r>
              <a:rPr lang="en-US" sz="336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Minimum = -128</a:t>
            </a:r>
          </a:p>
          <a:p>
            <a:pPr algn="ctr">
              <a:lnSpc>
                <a:spcPts val="4487"/>
              </a:lnSpc>
            </a:pPr>
            <a:r>
              <a:rPr lang="en-US" sz="3205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Maximum = +127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467365" y="6463547"/>
            <a:ext cx="3983224" cy="1536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b="true" sz="4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  ⟶ positive</a:t>
            </a:r>
          </a:p>
          <a:p>
            <a:pPr algn="ctr">
              <a:lnSpc>
                <a:spcPts val="6160"/>
              </a:lnSpc>
            </a:pPr>
            <a:r>
              <a:rPr lang="en-US" b="true" sz="440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1 ⟶ negative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272032" y="4890350"/>
            <a:ext cx="5466432" cy="953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00"/>
              </a:lnSpc>
            </a:pPr>
            <a:r>
              <a:rPr lang="en-US" sz="5571" b="true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Sign value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6665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aphicFrame>
        <p:nvGraphicFramePr>
          <p:cNvPr name="Table 8" id="8"/>
          <p:cNvGraphicFramePr>
            <a:graphicFrameLocks noGrp="true"/>
          </p:cNvGraphicFramePr>
          <p:nvPr/>
        </p:nvGraphicFramePr>
        <p:xfrm>
          <a:off x="2939102" y="7058653"/>
          <a:ext cx="6191250" cy="829733"/>
        </p:xfrm>
        <a:graphic>
          <a:graphicData uri="http://schemas.openxmlformats.org/drawingml/2006/table">
            <a:tbl>
              <a:tblPr/>
              <a:tblGrid>
                <a:gridCol w="767195"/>
                <a:gridCol w="767195"/>
                <a:gridCol w="749298"/>
                <a:gridCol w="785092"/>
                <a:gridCol w="785092"/>
                <a:gridCol w="785092"/>
                <a:gridCol w="785092"/>
                <a:gridCol w="767195"/>
              </a:tblGrid>
              <a:tr h="6444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0620733" y="7058653"/>
          <a:ext cx="6191250" cy="829733"/>
        </p:xfrm>
        <a:graphic>
          <a:graphicData uri="http://schemas.openxmlformats.org/drawingml/2006/table">
            <a:tbl>
              <a:tblPr/>
              <a:tblGrid>
                <a:gridCol w="767195"/>
                <a:gridCol w="767195"/>
                <a:gridCol w="749298"/>
                <a:gridCol w="785092"/>
                <a:gridCol w="785092"/>
                <a:gridCol w="785092"/>
                <a:gridCol w="785092"/>
                <a:gridCol w="767195"/>
              </a:tblGrid>
              <a:tr h="6444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name="Table 10" id="10"/>
          <p:cNvGraphicFramePr>
            <a:graphicFrameLocks noGrp="true"/>
          </p:cNvGraphicFramePr>
          <p:nvPr/>
        </p:nvGraphicFramePr>
        <p:xfrm>
          <a:off x="4146341" y="8041746"/>
          <a:ext cx="6191250" cy="829733"/>
        </p:xfrm>
        <a:graphic>
          <a:graphicData uri="http://schemas.openxmlformats.org/drawingml/2006/table">
            <a:tbl>
              <a:tblPr/>
              <a:tblGrid>
                <a:gridCol w="684369"/>
                <a:gridCol w="684369"/>
                <a:gridCol w="668404"/>
                <a:gridCol w="668404"/>
                <a:gridCol w="700334"/>
                <a:gridCol w="700334"/>
                <a:gridCol w="700334"/>
                <a:gridCol w="700334"/>
                <a:gridCol w="684369"/>
              </a:tblGrid>
              <a:tr h="64448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0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919"/>
                        </a:lnSpc>
                        <a:defRPr/>
                      </a:pPr>
                      <a:r>
                        <a:rPr lang="en-US" sz="2799">
                          <a:solidFill>
                            <a:srgbClr val="000000"/>
                          </a:solidFill>
                          <a:latin typeface="HK Grotesk"/>
                          <a:ea typeface="HK Grotesk"/>
                          <a:cs typeface="HK Grotesk"/>
                          <a:sym typeface="HK Grotesk"/>
                        </a:rPr>
                        <a:t>1</a:t>
                      </a:r>
                      <a:endParaRPr lang="en-US" sz="1100"/>
                    </a:p>
                  </a:txBody>
                  <a:tcPr marL="0" marR="0" marT="0" marB="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11" id="11"/>
          <p:cNvSpPr/>
          <p:nvPr/>
        </p:nvSpPr>
        <p:spPr>
          <a:xfrm flipH="false" flipV="false" rot="0">
            <a:off x="2939102" y="2156055"/>
            <a:ext cx="11210119" cy="4578748"/>
          </a:xfrm>
          <a:custGeom>
            <a:avLst/>
            <a:gdLst/>
            <a:ahLst/>
            <a:cxnLst/>
            <a:rect r="r" b="b" t="t" l="l"/>
            <a:pathLst>
              <a:path h="4578748" w="11210119">
                <a:moveTo>
                  <a:pt x="0" y="0"/>
                </a:moveTo>
                <a:lnTo>
                  <a:pt x="11210119" y="0"/>
                </a:lnTo>
                <a:lnTo>
                  <a:pt x="11210119" y="4578748"/>
                </a:lnTo>
                <a:lnTo>
                  <a:pt x="0" y="457874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2033" r="0" b="-14384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27549" y="1190625"/>
            <a:ext cx="9835694" cy="123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b="true" sz="92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Demo in Logisim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648943" y="7165226"/>
            <a:ext cx="6191250" cy="5734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19"/>
              </a:lnSpc>
              <a:spcBef>
                <a:spcPct val="0"/>
              </a:spcBef>
            </a:pPr>
            <a:r>
              <a:rPr lang="en-US" b="true" sz="32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A=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56916" y="7124950"/>
            <a:ext cx="547449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B=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0" y="8124825"/>
            <a:ext cx="6191250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Result =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181523" y="8010364"/>
            <a:ext cx="1534835" cy="75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8-5=3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66656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581027"/>
            <a:ext cx="15141289" cy="7677273"/>
            <a:chOff x="0" y="0"/>
            <a:chExt cx="3987829" cy="20219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87829" cy="2021998"/>
            </a:xfrm>
            <a:custGeom>
              <a:avLst/>
              <a:gdLst/>
              <a:ahLst/>
              <a:cxnLst/>
              <a:rect r="r" b="b" t="t" l="l"/>
              <a:pathLst>
                <a:path h="2021998" w="3987829">
                  <a:moveTo>
                    <a:pt x="10226" y="0"/>
                  </a:moveTo>
                  <a:lnTo>
                    <a:pt x="3977603" y="0"/>
                  </a:lnTo>
                  <a:cubicBezTo>
                    <a:pt x="3980316" y="0"/>
                    <a:pt x="3982917" y="1077"/>
                    <a:pt x="3984834" y="2995"/>
                  </a:cubicBezTo>
                  <a:cubicBezTo>
                    <a:pt x="3986752" y="4913"/>
                    <a:pt x="3987829" y="7514"/>
                    <a:pt x="3987829" y="10226"/>
                  </a:cubicBezTo>
                  <a:lnTo>
                    <a:pt x="3987829" y="2011772"/>
                  </a:lnTo>
                  <a:cubicBezTo>
                    <a:pt x="3987829" y="2017419"/>
                    <a:pt x="3983251" y="2021998"/>
                    <a:pt x="3977603" y="2021998"/>
                  </a:cubicBezTo>
                  <a:lnTo>
                    <a:pt x="10226" y="2021998"/>
                  </a:lnTo>
                  <a:cubicBezTo>
                    <a:pt x="7514" y="2021998"/>
                    <a:pt x="4913" y="2020920"/>
                    <a:pt x="2995" y="2019003"/>
                  </a:cubicBezTo>
                  <a:cubicBezTo>
                    <a:pt x="1077" y="2017085"/>
                    <a:pt x="0" y="2014484"/>
                    <a:pt x="0" y="2011772"/>
                  </a:cubicBezTo>
                  <a:lnTo>
                    <a:pt x="0" y="10226"/>
                  </a:lnTo>
                  <a:cubicBezTo>
                    <a:pt x="0" y="7514"/>
                    <a:pt x="1077" y="4913"/>
                    <a:pt x="2995" y="2995"/>
                  </a:cubicBezTo>
                  <a:cubicBezTo>
                    <a:pt x="4913" y="1077"/>
                    <a:pt x="7514" y="0"/>
                    <a:pt x="10226" y="0"/>
                  </a:cubicBezTo>
                  <a:close/>
                </a:path>
              </a:pathLst>
            </a:custGeom>
            <a:solidFill>
              <a:srgbClr val="050A30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987829" cy="206009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306205" y="1028700"/>
            <a:ext cx="15953095" cy="7957715"/>
            <a:chOff x="0" y="0"/>
            <a:chExt cx="4201638" cy="209585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01638" cy="2095859"/>
            </a:xfrm>
            <a:custGeom>
              <a:avLst/>
              <a:gdLst/>
              <a:ahLst/>
              <a:cxnLst/>
              <a:rect r="r" b="b" t="t" l="l"/>
              <a:pathLst>
                <a:path h="2095859" w="4201638">
                  <a:moveTo>
                    <a:pt x="9706" y="0"/>
                  </a:moveTo>
                  <a:lnTo>
                    <a:pt x="4191932" y="0"/>
                  </a:lnTo>
                  <a:cubicBezTo>
                    <a:pt x="4197293" y="0"/>
                    <a:pt x="4201638" y="4345"/>
                    <a:pt x="4201638" y="9706"/>
                  </a:cubicBezTo>
                  <a:lnTo>
                    <a:pt x="4201638" y="2086153"/>
                  </a:lnTo>
                  <a:cubicBezTo>
                    <a:pt x="4201638" y="2088728"/>
                    <a:pt x="4200616" y="2091196"/>
                    <a:pt x="4198795" y="2093016"/>
                  </a:cubicBezTo>
                  <a:cubicBezTo>
                    <a:pt x="4196975" y="2094837"/>
                    <a:pt x="4194506" y="2095859"/>
                    <a:pt x="4191932" y="2095859"/>
                  </a:cubicBezTo>
                  <a:lnTo>
                    <a:pt x="9706" y="2095859"/>
                  </a:lnTo>
                  <a:cubicBezTo>
                    <a:pt x="7132" y="2095859"/>
                    <a:pt x="4663" y="2094837"/>
                    <a:pt x="2843" y="2093016"/>
                  </a:cubicBezTo>
                  <a:cubicBezTo>
                    <a:pt x="1023" y="2091196"/>
                    <a:pt x="0" y="2088728"/>
                    <a:pt x="0" y="2086153"/>
                  </a:cubicBezTo>
                  <a:lnTo>
                    <a:pt x="0" y="9706"/>
                  </a:lnTo>
                  <a:cubicBezTo>
                    <a:pt x="0" y="7132"/>
                    <a:pt x="1023" y="4663"/>
                    <a:pt x="2843" y="2843"/>
                  </a:cubicBezTo>
                  <a:cubicBezTo>
                    <a:pt x="4663" y="1023"/>
                    <a:pt x="7132" y="0"/>
                    <a:pt x="9706" y="0"/>
                  </a:cubicBezTo>
                  <a:close/>
                </a:path>
              </a:pathLst>
            </a:custGeom>
            <a:solidFill>
              <a:srgbClr val="F4F6FC"/>
            </a:solidFill>
            <a:ln w="38100" cap="sq">
              <a:solidFill>
                <a:srgbClr val="050A3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201638" cy="21339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771090" y="1908329"/>
            <a:ext cx="9835694" cy="1233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0"/>
              </a:lnSpc>
            </a:pPr>
            <a:r>
              <a:rPr lang="en-US" b="true" sz="9200">
                <a:solidFill>
                  <a:srgbClr val="0000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Github repository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048000" y="4657662"/>
            <a:ext cx="11559421" cy="762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9"/>
              </a:lnSpc>
              <a:spcBef>
                <a:spcPct val="0"/>
              </a:spcBef>
            </a:pPr>
            <a:r>
              <a:rPr lang="en-US" b="true" sz="4499">
                <a:solidFill>
                  <a:srgbClr val="000000"/>
                </a:solidFill>
                <a:latin typeface="HK Grotesk Medium"/>
                <a:ea typeface="HK Grotesk Medium"/>
                <a:cs typeface="HK Grotesk Medium"/>
                <a:sym typeface="HK Grotesk Medium"/>
              </a:rPr>
              <a:t>https://github.com/neerudimadhupriya-cmyk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DAHTUHAq70Y</dc:identifier>
  <dcterms:modified xsi:type="dcterms:W3CDTF">2011-08-01T06:04:30Z</dcterms:modified>
  <cp:revision>1</cp:revision>
  <dc:title>8-BIT BINARY NUMBER REPRESENTATION USING TWO'S COMPLIMENT</dc:title>
</cp:coreProperties>
</file>